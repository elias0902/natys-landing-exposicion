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26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85800"/>
            <a:ext cx="7680960" cy="3794760"/>
          </a:xfrm>
          <a:prstGeom prst="roundRect">
            <a:avLst>
              <a:gd name="adj" fmla="val 3614"/>
            </a:avLst>
          </a:prstGeom>
          <a:solidFill>
            <a:srgbClr val="162238"/>
          </a:solidFill>
          <a:ln w="19050">
            <a:solidFill>
              <a:srgbClr val="2E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UPTAEB · SECCIÓN IN3103 · EQUIPO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Pipelines de Software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"Software probado por máquinas: más rápido, más confiable y sin errores humanos."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94944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649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PRÁCTICO: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 err="1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Galletas</a:t>
            </a:r>
            <a:r>
              <a:rPr lang="en-US" sz="10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b="1" dirty="0" err="1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Naty’s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33185" y="33649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EN VIVO: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 y Estrés con Apache JMeter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de Exposición y Ponentes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la defensa técnica dividida en 5 módulos especializados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50876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618488"/>
            <a:ext cx="292608" cy="292608"/>
          </a:xfrm>
          <a:prstGeom prst="ellipse">
            <a:avLst/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16184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Edgmairys Apostol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15819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de Automatización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792224"/>
            <a:ext cx="457200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Concepto, Manual vs Auto, ROI y Pirámide de Pruebas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093976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093976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203704"/>
            <a:ext cx="292608" cy="292608"/>
          </a:xfrm>
          <a:prstGeom prst="ellipse">
            <a:avLst/>
          </a:prstGeom>
          <a:solidFill>
            <a:srgbClr val="0B0F1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22037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Moisés Pereira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2167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y Tipos de Pipelines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2377440"/>
            <a:ext cx="457200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Tuberías CI/CD, Triggers y Anatomía en GitHub 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2679192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2679192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2788920"/>
            <a:ext cx="292608" cy="292608"/>
          </a:xfrm>
          <a:prstGeom prst="ellipse">
            <a:avLst/>
          </a:prstGeom>
          <a:solidFill>
            <a:srgbClr val="0B0F1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2788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Elías Armas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03320" y="27523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Scripts y JMeter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2962656"/>
            <a:ext cx="457200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AAA, Modularidad, POM y Arquitectura JMeter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264408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3264408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374136"/>
            <a:ext cx="292608" cy="292608"/>
          </a:xfrm>
          <a:prstGeom prst="ellipse">
            <a:avLst/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17320" y="33741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Ismael Torres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703320" y="3337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y Demo en Vivo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3320" y="3547872"/>
            <a:ext cx="457200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de Calidad, Simulación de Carga y Dashboards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84962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3849624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3959352"/>
            <a:ext cx="292608" cy="292608"/>
          </a:xfrm>
          <a:prstGeom prst="ellipse">
            <a:avLst/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1732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Santiago Loyo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703320" y="392277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CI/CD y Despliegue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4133088"/>
            <a:ext cx="457200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Shift-Left, Quality Gates, Blue/Green y Time-to-Market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la Automatización de Pruebas?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formal, objetivos del QA moderno y pilares de eficiencia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 ESENCIAL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programas, scripts y herramientas especializadas para ejecutar casos de prueba de forma automática, comparando los resultados reales con los esperados y reportando si pasa o falla sin intervención humana continua.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2461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E2D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REAL: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eliminar las pruebas manuales al 100%, sino liberar tiempo de lo repetitivo para enfocarse en lógica compleja y experiencia de usuario.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45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Ahorra Tiempo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que tomaban horas se ejecutan en segundos de manera desatendida.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508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45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Bugs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temprana en desarrollo: 10x más barato que resolverlo en producción.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Reutilizable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script se ejecuta exactamente igual en cada nueva versión del sistema.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301752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 Calidad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 absoluta en procesos críticos: compras, pagos e inventario.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Manuales vs. Automatizadas &amp; Criterio de ROI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técnica directa y evaluación del Retorno de Inversión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1600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8BDF8"/>
                          </a:solidFill>
                        </a:rPr>
                        <a:t>CRITERIO</a:t>
                      </a:r>
                      <a:endParaRPr lang="en-US" sz="95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3F5E"/>
                          </a:solidFill>
                        </a:rPr>
                        <a:t>PRUEBAS MANUALES</a:t>
                      </a:r>
                      <a:endParaRPr lang="en-US" sz="95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PRUEBAS AUTOMATIZADAS</a:t>
                      </a:r>
                      <a:endParaRPr lang="en-US" sz="95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Velocidad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Lenta y secuencial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Ultrarrápida y en paralelo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Repetición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Cansa al tester y provoca fallos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Siempre idéntica y consistente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Alto y acumulativo a largo plazo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Alto al inicio, bajo después (ROI)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Ideal para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Exploración, usabilidad visual y UX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Regresión, APIs, estrés y carga masiva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342900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 AUTOMATIZAR CUANDO: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73075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Tareas repetitivas que se ejecutan en cada versión.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de estrés y alta concurrencia (JMeter).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Flujos críticos de negocio (login, carrito, pagos).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342900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VALE LA PENA AUTOMATIZAR CUANDO: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373075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 interfaz cambia a diario (scripts se rompen).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de usabilidad subjetiva o percepción visual.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de una sola vez (se gasta más tiempo programando).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EDGMAIRYS APOSTOL · MÓDULO 1: FUNDAMENTOS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Pirámide de Automatización de Pruebas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arquitectónica profesional según velocidad, costo y cobertura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15087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CÚSPIDE: UI (10%)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 / Cypress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97280" y="219456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CENTRO: INTEGRACIÓN Y API (20%)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 / Endpoints / BD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BASE: PRUEBAS UNITARIAS (70%)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 (Backend)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1363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TRANSVERSAL: Carga y Rendimiento (Apache JMeter)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la resistencia y latencia bajo concurrencia masiva.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50876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81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(Base Ancha) · [PHPUnit]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8013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Prueban funciones y métodos aislados del código fuente sin tocar navegador. Son cientos, ultraveloces (milisegundos) y muy económicas.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2496312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694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Integración y API (Centro) · [Postman / Endpoints]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2788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Verifican que los módulos conversen correctamente con la base de datos MySQL y servicios externos.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3483864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5570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Interfaz UI (Cúspide) · [Selenium / Cypress]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37764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Simulan la interacción del usuario final en el navegador. Son más lentas y vulnerables a cambios de diseño.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Pipeline? La Tubería de Software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corazón operativo de la filosofía DevOps y su flujo automatizado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 TÉCNICO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7556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Pipeline es una serie de pasos automatizados que toman el código fuente desde la laptop del desarrollador (PHP/MySQL/XAMPP) y lo llevan de forma segura hasta el servidor de producción.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0" cy="82296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ANALOGÍA DE GALLETAS NATYS: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556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 que en una fábrica: la masa entra por un extremo, pasa por moldeado, horneado, control de calidad y sale empaquetada. El pipeline hace exactamente lo mismo con cada línea de código.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85292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852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COMMIT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desarrollador sube cambios a GitHub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23160" y="3429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697480" y="274320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7208" y="285292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2852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BUILD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88920" y="3246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Compilación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88920" y="3566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Sintaxis PHP/JS limpia y sin errores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0" y="3429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85292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852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PRUEBAS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246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 / JMeter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unitarios y APIs automáticos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3429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29400" y="274320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39128" y="285292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2852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DESPLIEGUE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3246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Web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20840" y="3566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producción en XAMPP o nube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Pipelines &amp; Ejemplo en GitHub Actions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Diferencias entre CI y CD y configuración práctica en formato YAML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819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(Integración Continua)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1801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commit se valida, compila y prueba automáticamente. Si falla, el cambio no entra a la rama principal.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31520" y="2496312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94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(Continuous Delivery vs Deployment)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Listo para producción con un clic humano.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Deployment: Despliegue 100% automático al pasar tests.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570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(Los Disparadores)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7764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Eventos que encienden el pipeline: un git push, un Pull Request o triggers programados de madrugada (cron).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59"/>
            <a:ext cx="3840480" cy="3118105"/>
          </a:xfrm>
          <a:prstGeom prst="roundRect">
            <a:avLst>
              <a:gd name="adj" fmla="val 3077"/>
            </a:avLst>
          </a:prstGeom>
          <a:solidFill>
            <a:srgbClr val="050A1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508760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508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· .github/workflows/ci.yml (Galletas Natys)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Pipeline Galletas Natys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push  # Trigger: cada commit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pruebas-calidad: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Descargar repositorio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actions/checkout@v4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Instalar dependencias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composer install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Ejecutar pruebas unitarias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vendor/bin/phpunit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¡Si falla, detiene el despliegue!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SCRIPTS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y Buenas Prácticas en Scripts de Prueba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universal AAA (Arrange, Act, Assert) y principios de ingeniería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16223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361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SCRIPT DE PRUEBA?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guion de código o configuración que instruye a la herramienta (JMeter, PHPUnit) a realizar acciones exactas, enviar datos a la tienda de Natys y comprobar si el servidor respondió correctamente con código HTTP 200.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622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77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PREPARAR (Arrange)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Pre-conditions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inicializan variables, credenciales del usuario y conexiones limpias a la base de datos MySQL.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622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377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ACTUAR (Act)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6060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/ Acción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474720" y="2816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realiza la acción a probar (ej. enviar una petición POST al carrito con 5 cajas de galletas).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4360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377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VERIFICAR (Assert)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060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Assertions / Checkpoints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080760" y="2816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Corazón de la prueba: comprueba si la respuesta fue 200 OK y si el stock en la BD se descontó en 5.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D4A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3075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PATRONES DE DISEÑO PROFESIONAL: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Modularidad e Independencia: Scripts que no dependen entre sí y reutilizan funciones comunes (ej. login).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Data-Driven Testing (DDT): Mismo script alimentado por lotes de datos desde un archivo CSV con múltiples clientes.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Page Object Model (POM): Desacopla la interfaz visual de la lógica de prueba para facilitar el mantenimiento.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SCRIPTS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Pruebas en Apache JMeter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Anatomía técnica de un script de carga y estrés aplicado a Galletas Natys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0020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00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Plan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563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Elemento raíz global del proyecto de prueba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093976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16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185416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0F1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1854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 Group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 virtuales concurrentes simulados (50 a 100 hilos)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679192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16223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770632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0F1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7706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Sampler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Petición web específica (GET /catalogo, POST /carrito)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264408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3558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35584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Assertion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3319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verificación: código 200 OK y confirmación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849624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16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941064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410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39044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 de reportes dinámicos, latencia y tablas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5087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DE JMETER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93852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 Source en Java: Sin costo de licencias.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Multiprotocolo: HTTP, HTTPS, JDBC, SOAP, REST.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Multihilo masivo: Simula miles de clientes simultáneos.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Reportes Dashboard: Genera gráficos interactivos en HTML.</a:t>
            </a: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endParaRPr lang="en-US" sz="9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Fácil integración: Se ejecuta por consola en CI/CD.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937760" y="3794760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82219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GALLETAS NATYS: Permite evaluar cómo responde Apache y MySQL antes de lanzar una promoción comercial.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DEMO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del Ecosistema de Calidad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herramienta cubre una fase específica de la tubería continua de software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18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JMeter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18928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Carga, Rendimiento y Estrés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21305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herramienta estrella: simula concurrencia masiva de usuarios y mide latencia.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18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18928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Backend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0" y="21305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funciones matemáticas del carrito de compras y reglas de inventario en PHP.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50876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18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 / Newman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18928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APIs y Endpoints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80760" y="21305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Comprueba peticiones HTTP a la base de datos MySQL tanto en GUI como en consola.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01752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 / Cypress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3401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Interfaz (UI)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363931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 clics, navegación y formularios directamente en el navegador web.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01752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74720" y="3401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Orquestador CI/CD en la Nube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0" y="363931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 automáticamente los scripts al hacer push mediante archivos YAML.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0" y="3017520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Jenkins / Stack LAMP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80760" y="3401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Local y Entorno Base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80760" y="363931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de integración continua clásico y entorno base (Linux, Apache, MySQL, PHP).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DEMO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Práctico: Tienda Web Galletas Natys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Simulación de carga con JMeter, detección de fallos y comparativa de dashboards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62238"/>
          </a:solidFill>
          <a:ln w="12700">
            <a:solidFill>
              <a:srgbClr val="2E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361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CRÍTICO EVALUADO EN LA TIENDA WEB: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7830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Inicio de Sesión (Login)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17830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Catálogo de Galletas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7830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Carrito de Compras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Procesamiento de Pago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24231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5420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EN VIVO CON JMETER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16352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Simulación: De 50 a 100 usuarios comprando al mismo tiempo en el servidor local XAMPP.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Métricas clave observadas: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Latencia y tiempo de respuesta en ms.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Consumo de CPU y memoria RAM.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Tasa de errores HTTP (404, 500).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Conclusión de la demo: Se evidencia la estabilidad del sistema bajo alta demanda comercial.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420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DE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852928"/>
            <a:ext cx="3383280" cy="685800"/>
          </a:xfrm>
          <a:prstGeom prst="roundRect">
            <a:avLst>
              <a:gd name="adj" fmla="val 6667"/>
            </a:avLst>
          </a:prstGeom>
          <a:solidFill>
            <a:srgbClr val="1C14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07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 A: Versión con fallos detectados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127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Tasa de error &gt; 15%, cuellos de botella en MySQL y caídas de peticiones HTTP.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3675888"/>
            <a:ext cx="3383280" cy="685800"/>
          </a:xfrm>
          <a:prstGeom prst="roundRect">
            <a:avLst>
              <a:gd name="adj" fmla="val 6667"/>
            </a:avLst>
          </a:prstGeom>
          <a:solidFill>
            <a:srgbClr val="0D24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7307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 B: Versión optimizada con 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9502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errores, respuestas sub-segundo y pruebas automatizadas aprobadas con éxito.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Avanzadas e Integración Continua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Metodologías profesionales para garantizar estabilidad, velocidad y cero fallos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636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Shift-Left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74650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B0F1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465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Tempranas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desde el día 1 de desarrollo, no al final. Evita sorpresas antes de entregar.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31520" y="2002536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6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57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Paralelización de Pruebas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2402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B0F1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402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Ahorro de Tiempo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83280" y="20482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suites de pruebas unitarias y de APIs simultáneamente en varios runners.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2496312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6223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5511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Entornos Aislados (Staging)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2734056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B0F1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734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Operativa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0" y="25420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probar en producción en horas pico. Se despliega en réplicas idénticas antes.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31520" y="2990088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622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0449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(Puertas Lógicas)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22783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B0F19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22783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Automático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83280" y="30358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una prueba falla o la cobertura baja de 80%, el pipeline aborta el despliegue.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31520" y="3483864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538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Time-to-Market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3721608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7216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Comercial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83280" y="35295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días de pruebas manuales a minutos: Galletas Natys publica ofertas al instante.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31520" y="40690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5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0690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ORO: "Automatiza lo repetitivo y deja a las personas lo que requiere criterio."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de Despliegue en Producción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profesionales para actualizar sin interrupción del servicio (Zero-Downtime)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Despliegue Blue/Green (Azul / Verde)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011680" cy="219456"/>
          </a:xfrm>
          <a:prstGeom prst="roundRect">
            <a:avLst>
              <a:gd name="adj" fmla="val 20833"/>
            </a:avLst>
          </a:prstGeom>
          <a:solidFill>
            <a:srgbClr val="0B0F1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CERO DOWNTIME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entornos idénticos en producción: Azul (activo atendiendo clientes) y Verde (nueva versión probada en staging). Cuando se valida el Verde, el balanceador redirige el tráfico en 1 segundo. Si ocurre un fallo, se revierte al Azul de inmediato.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31520" y="25146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06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Despliegue Canario (Canary Releases)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011680" cy="219456"/>
          </a:xfrm>
          <a:prstGeom prst="roundRect">
            <a:avLst>
              <a:gd name="adj" fmla="val 20833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6060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LANZAMIENTO PROGRESIVO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286207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actualización se publica solo a un pequeño porcentaje de usuarios (ej. 5% al 10% de clientes de Galletas Natys). Se monitorean errores y latencia en vivo; si todo opera sin problemas, se libera gradualmente al 100% de la plataforma.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11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Despliegue Rolling (Progresivo)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2011680" cy="219456"/>
          </a:xfrm>
          <a:prstGeom prst="roundRect">
            <a:avLst>
              <a:gd name="adj" fmla="val 20833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6118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 POR NODO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3867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actualiza los servidores o instancias uno por uno o en pequeños lotes. Mientras unos nodos se actualizan, los demás continúan atendiendo peticiones, garantizando que la tienda web nunca sufra caídas.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</a:t>
            </a: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PARTICIPACIÓN ACTIVA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¡Escanea, Evalúa y Preguntas &amp; Respuestas!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Dinámica interactiva con formulario en vivo y conclusiones finales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¡ESCANEA Y PARTICIPA!</a:t>
            </a:r>
            <a:endParaRPr lang="en-US" sz="1200" dirty="0"/>
          </a:p>
        </p:txBody>
      </p:sp>
      <p:pic>
        <p:nvPicPr>
          <p:cNvPr id="12" name="Image 0" descr="C:/Users/Usuario/.gemini/antigravity-ide/scratch/ppt-gen/evaluac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20240"/>
            <a:ext cx="1828800" cy="1828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la evaluación de 19 preguntas desde tu celular y conoce tu nota al instante: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41879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forms.gle/1q3Zo8qu2FE4vGpj9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15087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6276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CLAVE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192024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La automatización no reemplaza el criterio humano, optimiza el tiempo del equipo.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Los pipelines CI/CD eliminan los despliegues manuales propensos a fallos.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Apache JMeter garantiza que Galletas Natys resista picos de ventas reales.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Diseñar scripts bajo el patrón AAA permite mantenimiento escalable.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3611880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¿PREGUNTAS O COMENTARIOS?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¡Muchas gracias por su atención!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ANEXO 1 </a:t>
            </a: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</a:t>
            </a:r>
            <a:r>
              <a:rPr lang="en-US" sz="950" b="1" dirty="0" err="1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</a:t>
            </a: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Conceptual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</a:t>
            </a:r>
            <a:r>
              <a:rPr lang="en-US" sz="200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Pruebas y Pipelines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Diagrama conceptual general del sistema integrado </a:t>
            </a:r>
            <a:r>
              <a:rPr lang="en-US" sz="105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Galletas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 smtClean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16</a:t>
            </a:r>
            <a:endParaRPr lang="en-US" sz="900" dirty="0"/>
          </a:p>
        </p:txBody>
      </p:sp>
      <p:pic>
        <p:nvPicPr>
          <p:cNvPr id="10" name="Image 0" descr="C:\Users\Usuario\.gemini\antigravity-ide\scratch\ppt-gen\assets\anexo_mapa_conceptual.png"/>
          <p:cNvPicPr>
            <a:picLocks noChangeAspect="1"/>
          </p:cNvPicPr>
          <p:nvPr/>
        </p:nvPicPr>
        <p:blipFill rotWithShape="1">
          <a:blip r:embed="rId3"/>
          <a:srcRect l="7746" t="16064"/>
          <a:stretch/>
        </p:blipFill>
        <p:spPr>
          <a:xfrm>
            <a:off x="760022" y="1463041"/>
            <a:ext cx="4817817" cy="3063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0" y="146304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1600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DEL MAPA: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1874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Fundamentos: Concepto, Manual vs. Auto, ROI y Pirámide.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Scripts de Prueba: Estructura 4 fases, Modularidad, POM y DDT.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Pipelines CI/CD: Tuberías, etapas Build-Test-Deploy, Triggers y DevOps.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Estrategias Avanzadas: Shift-Left, Quality Gates, Blue/Green y Canary.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329184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ANEXO 2 </a:t>
            </a: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950" b="1" dirty="0" err="1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</a:t>
            </a:r>
            <a:r>
              <a:rPr lang="en-US" sz="950" b="1" dirty="0" smtClean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Mental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 err="1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r>
              <a:rPr lang="en-US" sz="200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Diseño de Scripts de Prueba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Diagrama mental detallado: estructura AAA, principios, patrones y plan en JMeter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7680960" cy="0"/>
          </a:xfrm>
          <a:prstGeom prst="line">
            <a:avLst/>
          </a:prstGeom>
          <a:noFill/>
          <a:ln w="12700">
            <a:solidFill>
              <a:srgbClr val="2E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Pruebas y Pipelines  |  Equipo 8 (IN3103)  |  Caso: Galletas Natys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16</a:t>
            </a:r>
            <a:endParaRPr lang="en-US" sz="900" dirty="0"/>
          </a:p>
        </p:txBody>
      </p:sp>
      <p:pic>
        <p:nvPicPr>
          <p:cNvPr id="10" name="Image 0" descr="C:/Users/Usuario/Desktop/powerpoint/WhatsApp Image 2026-10-13 at 5.27.26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965960" cy="3063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34640" y="1463040"/>
            <a:ext cx="5577840" cy="3063240"/>
          </a:xfrm>
          <a:prstGeom prst="roundRect">
            <a:avLst>
              <a:gd name="adj" fmla="val 2985"/>
            </a:avLst>
          </a:prstGeom>
          <a:solidFill>
            <a:srgbClr val="1622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0" y="160020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DESGLOSE DE RAMAS DEL MAPA MENTAL: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187452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Estructura AAA: Preparar (datos/entorno), Actuar (ejecutar acción) y Verificar (aserciones).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Principios de Diseño: Modular y reutilizable, Independiente, Legible y Nombres claros.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Patrones Profesionales: Data-Driven Testing (CSV), Page Object Model (POM) y separación por capas.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Plan en Apache JMeter: Test Plan, Thread Group (hilos), Sampler (HTTP), Assertion y Listeners.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Caso Galletas Natys: Inicio de sesión válido/inválido, Carrito y cálculo de total, Pago y stock.</a:t>
            </a: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endParaRPr lang="en-US" sz="8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Buenas Prácticas: Versionar en Git, datos fuera del script, correr en CI y generar reportes.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2605</Words>
  <Application>Microsoft Office PowerPoint</Application>
  <PresentationFormat>Presentación en pantalla (16:9)</PresentationFormat>
  <Paragraphs>341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2</cp:revision>
  <dcterms:created xsi:type="dcterms:W3CDTF">2026-10-17T15:38:06Z</dcterms:created>
  <dcterms:modified xsi:type="dcterms:W3CDTF">2026-10-17T15:46:05Z</dcterms:modified>
</cp:coreProperties>
</file>